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11"/>
  </p:notesMasterIdLst>
  <p:sldIdLst>
    <p:sldId id="257" r:id="rId3"/>
    <p:sldId id="263" r:id="rId4"/>
    <p:sldId id="256" r:id="rId5"/>
    <p:sldId id="258" r:id="rId6"/>
    <p:sldId id="259" r:id="rId7"/>
    <p:sldId id="260" r:id="rId8"/>
    <p:sldId id="261" r:id="rId9"/>
    <p:sldId id="262" r:id="rId10"/>
  </p:sldIdLst>
  <p:sldSz cx="7772400" cy="10058400"/>
  <p:notesSz cx="6858000" cy="9144000"/>
  <p:embeddedFontLst>
    <p:embeddedFont>
      <p:font typeface="Google Sans SemiBold" panose="020B0604020202020204" charset="0"/>
      <p:regular r:id="rId12"/>
      <p:bold r:id="rId13"/>
      <p:italic r:id="rId14"/>
      <p:boldItalic r:id="rId15"/>
    </p:embeddedFont>
    <p:embeddedFont>
      <p:font typeface="Lato" panose="020B0604020202020204" charset="0"/>
      <p:regular r:id="rId16"/>
      <p:bold r:id="rId17"/>
      <p:italic r:id="rId18"/>
      <p:boldItalic r:id="rId19"/>
    </p:embeddedFont>
    <p:embeddedFont>
      <p:font typeface="PT Sans Narrow" panose="020B0604020202020204" charset="0"/>
      <p:regular r:id="rId2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Roboto" panose="020B0604020202020204" charset="0"/>
      <p:regular r:id="rId26"/>
      <p:bold r:id="rId27"/>
      <p:italic r:id="rId28"/>
      <p:boldItalic r:id="rId29"/>
    </p:embeddedFont>
    <p:embeddedFont>
      <p:font typeface="Work Sans" panose="020B0604020202020204" charset="0"/>
      <p:regular r:id="rId30"/>
      <p:bold r:id="rId31"/>
      <p:italic r:id="rId32"/>
      <p:boldItalic r:id="rId33"/>
    </p:embeddedFont>
    <p:embeddedFont>
      <p:font typeface="Google Sans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48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viewProps" Target="viewProps.xml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font" Target="fonts/font26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font" Target="fonts/font25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e3a6309cc6_3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e3a6309cc6_3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3a6309cc6_3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3a6309cc6_3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3a6309cc6_3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3a6309cc6_3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3a6309cc6_3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e3a6309cc6_3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3a6309cc6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e3a6309cc6_3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4069DD"/>
            </a:solidFill>
            <a:ln w="9525" cap="flat" cmpd="sng">
              <a:solidFill>
                <a:srgbClr val="4069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92;p10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297;p11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">
  <p:cSld name="CUSTOM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5">
  <p:cSld name="CUSTOM_2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name="adj" fmla="val 50000"/>
              </a:avLst>
            </a:prstGeom>
            <a:solidFill>
              <a:srgbClr val="999999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>
            <a:spLocks noGrp="1"/>
          </p:cNvSpPr>
          <p:nvPr>
            <p:ph type="pic" idx="2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6">
  <p:cSld name="CUSTOM_2_2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>
            <a:spLocks noGrp="1"/>
          </p:cNvSpPr>
          <p:nvPr>
            <p:ph type="pic" idx="2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94" name="Google Shape;194;p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699" y="1498338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 dirty="0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 dirty="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188699" y="1735114"/>
            <a:ext cx="7430075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>
                <a:solidFill>
                  <a:schemeClr val="dk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TikTok's data team is in the early stages of developing a machine-learning model to classify whether user-submitted videos express a claim or an </a:t>
            </a:r>
            <a:r>
              <a:rPr lang="en-US" dirty="0" smtClean="0">
                <a:solidFill>
                  <a:schemeClr val="dk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opinion. As </a:t>
            </a:r>
            <a:r>
              <a:rPr lang="en-US" dirty="0">
                <a:solidFill>
                  <a:schemeClr val="dk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part of the data preparation phase, an initial assessment of the dataset was conducted to understand its structure, completeness, and suitability for analysis.</a:t>
            </a:r>
            <a:endParaRPr dirty="0">
              <a:solidFill>
                <a:schemeClr val="dk2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355938"/>
            <a:ext cx="604065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 smtClean="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TikTok Claims Classification Project Initial Data Summary</a:t>
              </a:r>
              <a:endParaRPr sz="1900" dirty="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dirty="0" smtClean="0">
                  <a:latin typeface="Google Sans" panose="020B0604020202020204" charset="0"/>
                  <a:ea typeface="Google Sans" panose="020B0604020202020204" charset="0"/>
                  <a:cs typeface="Google Sans" panose="020B0604020202020204" charset="0"/>
                  <a:sym typeface="Roboto"/>
                </a:rPr>
                <a:t>Executive Summary Report</a:t>
              </a:r>
              <a:endParaRPr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Roboto"/>
              </a:endParaRPr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394561"/>
              </p:ext>
            </p:extLst>
          </p:nvPr>
        </p:nvGraphicFramePr>
        <p:xfrm>
          <a:off x="3317556" y="5025927"/>
          <a:ext cx="4290061" cy="21031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1723900099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614442544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3570370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Claim</a:t>
                      </a:r>
                    </a:p>
                    <a:p>
                      <a:r>
                        <a:rPr lang="en-US" sz="10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 / median)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Opinion</a:t>
                      </a:r>
                    </a:p>
                    <a:p>
                      <a:r>
                        <a:rPr lang="en-US" sz="10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 / median)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83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Views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501K / 501K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4.9K / 4.9K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42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Likes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166K / 124K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1.1K / 823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06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33K / 18K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217 / 121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325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691 / 286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2.7 /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335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Likes per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0.33 / 0.33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0.22 / 0.22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569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Shares per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0.07 / 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0.04 / 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641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Comments per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0.0014 / 0.0008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0.0005 / 0.0003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486335"/>
                  </a:ext>
                </a:extLst>
              </a:tr>
            </a:tbl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68750" y="3865246"/>
            <a:ext cx="3060225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Data Shape &amp; Types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The dataset contains 19,382 rows and 12 columns with appropriate data types for analysis (int, float, and object).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Missing Values</a:t>
            </a: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Approximately 1.54% of records are missing key fields such as claim_status, transcription, and engagement metrics. These will require cleaning or imputation</a:t>
            </a:r>
            <a:r>
              <a:rPr lang="en-US" altLang="en-US" dirty="0" smtClean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User Status Distribution</a:t>
            </a:r>
            <a:r>
              <a:rPr lang="en-US" altLang="en-US" dirty="0" smtClean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A </a:t>
            </a: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majority of claim videos were published by users with active accounts (6,566), while a smaller but notable number are from banned or under review accounts (3,042 combined</a:t>
            </a:r>
            <a:r>
              <a:rPr lang="en-US" altLang="en-US" dirty="0" smtClean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). In </a:t>
            </a: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contrast, opinion videos are mostly from active users (8,817) and have fewer cases flagged for scrutiny</a:t>
            </a:r>
            <a:r>
              <a:rPr lang="en-US" altLang="en-US" dirty="0" smtClean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Engagement Ratios</a:t>
            </a: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Claim videos consistently outperform opinion videos in all per-view engagement metrics. These ratios might be powerful features for the classification model.</a:t>
            </a:r>
            <a:endParaRPr lang="en-US" altLang="en-US" dirty="0" smtClean="0">
              <a:solidFill>
                <a:schemeClr val="tx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17556" y="3303675"/>
            <a:ext cx="42900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 smtClean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      Engagement Disparity</a:t>
            </a:r>
            <a:r>
              <a:rPr lang="en-US" altLang="en-US" dirty="0" smtClean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Claim </a:t>
            </a: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videos receive significantly more engagement than opinion videos across all </a:t>
            </a:r>
            <a:r>
              <a:rPr lang="en-US" altLang="en-US" dirty="0" smtClean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metrics. Average </a:t>
            </a:r>
            <a:r>
              <a:rPr lang="en-US" altLang="en-US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view count: ~501K for claims vs. ~5K for opinions. Median likes: ~123K for claims vs. 823 for opinions. Claim videos also receive more shares, comments, and have higher engagement ratios (likes/views, comments/views, shares/views).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8975" y="7610517"/>
            <a:ext cx="43786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Handle Missing Data</a:t>
            </a:r>
            <a:r>
              <a:rPr lang="en-US" dirty="0"/>
              <a:t>: Drop or impute ~298 rows with missing values to maintain data integrity</a:t>
            </a:r>
            <a:r>
              <a:rPr lang="en-US" dirty="0" smtClean="0"/>
              <a:t>.</a:t>
            </a:r>
          </a:p>
          <a:p>
            <a:r>
              <a:rPr lang="en-US" b="1" dirty="0"/>
              <a:t>Feature Engineering</a:t>
            </a:r>
            <a:r>
              <a:rPr lang="en-US" dirty="0"/>
              <a:t>: Include derived metrics like likes_per_view, comments_per_view, and shares_per_view, which may improve model performance</a:t>
            </a:r>
            <a:r>
              <a:rPr lang="en-US" dirty="0" smtClean="0"/>
              <a:t>.</a:t>
            </a:r>
          </a:p>
          <a:p>
            <a:r>
              <a:rPr lang="en-US" b="1" dirty="0"/>
              <a:t>Begin Exploratory Visualizations</a:t>
            </a:r>
            <a:r>
              <a:rPr lang="en-US" dirty="0"/>
              <a:t>: Use boxplots, histograms, and grouped bar charts to examine patterns between engagement metrics and claim labels.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3"/>
          </p:nvPr>
        </p:nvSpPr>
        <p:spPr/>
      </p:sp>
    </p:spTree>
    <p:extLst>
      <p:ext uri="{BB962C8B-B14F-4D97-AF65-F5344CB8AC3E}">
        <p14:creationId xmlns:p14="http://schemas.microsoft.com/office/powerpoint/2010/main" val="3702482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latin typeface="Google Sans"/>
                <a:ea typeface="Google Sans"/>
                <a:cs typeface="Google Sans"/>
                <a:sym typeface="Google Sans"/>
              </a:rPr>
              <a:t>Executive summary templates</a:t>
            </a:r>
            <a:endParaRPr sz="34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Use the Layout dropdown menu to select a template or build your own using these layouts as inspiration. </a:t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2" name="Google Shape;432;p18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>
            <a:spLocks noGrp="1"/>
          </p:cNvSpPr>
          <p:nvPr>
            <p:ph type="pic" idx="2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443</Words>
  <Application>Microsoft Office PowerPoint</Application>
  <PresentationFormat>Custom</PresentationFormat>
  <Paragraphs>54</Paragraphs>
  <Slides>8</Slides>
  <Notes>7</Notes>
  <HiddenSlides>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Google Sans SemiBold</vt:lpstr>
      <vt:lpstr>Lato</vt:lpstr>
      <vt:lpstr>PT Sans Narrow</vt:lpstr>
      <vt:lpstr>Arial</vt:lpstr>
      <vt:lpstr>Calibri</vt:lpstr>
      <vt:lpstr>Roboto</vt:lpstr>
      <vt:lpstr>Courier New</vt:lpstr>
      <vt:lpstr>Work Sans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Roy Dale Caliwag</cp:lastModifiedBy>
  <cp:revision>12</cp:revision>
  <dcterms:modified xsi:type="dcterms:W3CDTF">2025-07-26T17:08:07Z</dcterms:modified>
</cp:coreProperties>
</file>